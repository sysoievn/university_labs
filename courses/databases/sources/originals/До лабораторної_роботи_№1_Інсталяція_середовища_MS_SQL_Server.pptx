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1"/>
  </p:notesMasterIdLst>
  <p:handoutMasterIdLst>
    <p:handoutMasterId r:id="rId32"/>
  </p:handoutMasterIdLst>
  <p:sldIdLst>
    <p:sldId id="256" r:id="rId3"/>
    <p:sldId id="262" r:id="rId4"/>
    <p:sldId id="300" r:id="rId5"/>
    <p:sldId id="263" r:id="rId6"/>
    <p:sldId id="264" r:id="rId7"/>
    <p:sldId id="275" r:id="rId8"/>
    <p:sldId id="276" r:id="rId9"/>
    <p:sldId id="277" r:id="rId10"/>
    <p:sldId id="278" r:id="rId11"/>
    <p:sldId id="279" r:id="rId12"/>
    <p:sldId id="280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1" r:id="rId3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5482B"/>
    <a:srgbClr val="C75806"/>
    <a:srgbClr val="00499F"/>
    <a:srgbClr val="0CC1E0"/>
    <a:srgbClr val="1B00FE"/>
    <a:srgbClr val="FFFFFF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3" autoAdjust="0"/>
    <p:restoredTop sz="94660"/>
  </p:normalViewPr>
  <p:slideViewPr>
    <p:cSldViewPr>
      <p:cViewPr varScale="1">
        <p:scale>
          <a:sx n="66" d="100"/>
          <a:sy n="66" d="100"/>
        </p:scale>
        <p:origin x="14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171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3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CFA500B2-B66F-41F6-93A3-D18C0254E08E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71775" y="3141663"/>
            <a:ext cx="5903913" cy="1109662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71775" y="3813175"/>
            <a:ext cx="5903913" cy="69691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 algn="r">
              <a:buFontTx/>
              <a:buNone/>
              <a:defRPr sz="2400" b="1"/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39750" y="1844675"/>
            <a:ext cx="36322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324350" y="1844675"/>
            <a:ext cx="3632200" cy="4895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084888" y="1268413"/>
            <a:ext cx="1871662" cy="547211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68313" y="1268413"/>
            <a:ext cx="5464175" cy="547211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F8557-9A08-48BD-8DC1-F46A06B8082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BC6FE-9C0C-4CA6-B079-373A323326CD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B7589-5845-4253-9913-C4F4962A382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908175" y="1600200"/>
            <a:ext cx="33131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373688" y="1600200"/>
            <a:ext cx="33131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DB4BF-F58C-4ADF-9B9D-498E59C80D6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0E900-ED77-4C9A-9ABF-093FD1A2F9E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99780-6032-4681-A21E-BD8A3DD3CCF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27BDF-6A75-4268-BE43-F21B6AA7F4F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2B633E-9E25-45B5-8877-5B793A005FF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8016F-4499-4664-9F24-7289E526D55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1424B-AC60-4A20-B555-336330F8D96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992938" y="274638"/>
            <a:ext cx="1693862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908175" y="274638"/>
            <a:ext cx="4932363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963E9-6050-4871-B39E-6473F260492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268413"/>
            <a:ext cx="74168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844675"/>
            <a:ext cx="74168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2pPr>
      <a:lvl3pPr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3pPr>
      <a:lvl4pPr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4pPr>
      <a:lvl5pPr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74638"/>
            <a:ext cx="67071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8175" y="1600200"/>
            <a:ext cx="677862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BAC0282F-4496-46F0-AE6D-9AFD4346C006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icrosoft.com/en-us/sql-server/sql-server-downloads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4713744" y="5085184"/>
            <a:ext cx="4402473" cy="647700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uk-UA" sz="2300" dirty="0">
                <a:solidFill>
                  <a:srgbClr val="000000"/>
                </a:solidFill>
              </a:rPr>
              <a:t>Інсталяція середовища </a:t>
            </a:r>
            <a:r>
              <a:rPr lang="en-US" sz="2300" dirty="0">
                <a:solidFill>
                  <a:srgbClr val="000000"/>
                </a:solidFill>
              </a:rPr>
              <a:t>MS SQL Server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274638"/>
            <a:ext cx="6707188" cy="1143000"/>
          </a:xfrm>
        </p:spPr>
        <p:txBody>
          <a:bodyPr/>
          <a:lstStyle/>
          <a:p>
            <a:r>
              <a:rPr lang="ru-RU" sz="2800" dirty="0"/>
              <a:t>Мета </a:t>
            </a:r>
            <a:r>
              <a:rPr lang="ru-RU" sz="2800" dirty="0" err="1"/>
              <a:t>роботи</a:t>
            </a:r>
            <a:endParaRPr lang="en-US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67744" y="1556792"/>
            <a:ext cx="64624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Ознайомитись з </a:t>
            </a:r>
            <a:r>
              <a:rPr lang="ru-RU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продуктом </a:t>
            </a:r>
            <a:r>
              <a:rPr lang="en-US" sz="2000" b="0" dirty="0">
                <a:ea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 Навчитись встановлювати та налаштовувати платформу </a:t>
            </a:r>
            <a:r>
              <a:rPr lang="en-US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MS SQL Server 2022</a:t>
            </a: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000" b="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92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274638"/>
            <a:ext cx="6707188" cy="1143000"/>
          </a:xfrm>
        </p:spPr>
        <p:txBody>
          <a:bodyPr/>
          <a:lstStyle/>
          <a:p>
            <a:r>
              <a:rPr lang="uk-UA" sz="2800" dirty="0"/>
              <a:t>Бази даних </a:t>
            </a:r>
            <a:r>
              <a:rPr lang="en-US" sz="2800" dirty="0"/>
              <a:t>SQL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67744" y="1556792"/>
            <a:ext cx="6462464" cy="4646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База даних </a:t>
            </a:r>
            <a:r>
              <a:rPr lang="en-US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SQL (Structured Query Language) - </a:t>
            </a: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це система для створення, управління та взаємодії з реляційними базами даних. </a:t>
            </a:r>
            <a:r>
              <a:rPr lang="en-US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використовується для введення, оновлення, видалення та вибору даних з таблиць, які зберігають інформацію у структурованому форматі. </a:t>
            </a:r>
            <a:r>
              <a:rPr lang="en-US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uk-UA" sz="2000" b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є стандартною мовою запитів для роботи з реляційними базами даних та забезпечує ефективний доступ до інформації.</a:t>
            </a:r>
            <a:endParaRPr lang="uk-UA" sz="2000" b="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0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240336"/>
            <a:ext cx="6707187" cy="668384"/>
          </a:xfrm>
        </p:spPr>
        <p:txBody>
          <a:bodyPr/>
          <a:lstStyle/>
          <a:p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Microsoft SQL Server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082890" y="980728"/>
            <a:ext cx="67011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Microsoft SQL Server (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мова структурованих запитів) — це власна система керування реляційними базами даних, розроблена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Microsoft.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Як сервер бази даних, це програмний продукт, основною функцією якого є зберігання та отримання даних за запитом інших програмних програм, які можуть працювати або на тому самому комп’ютері, або на іншому комп’ютері в мережі.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Родоначальником серії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 Server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та його основою є мова запитів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SQL.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Ця мова була запропонована співробітником компанії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IBM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Едгаром </a:t>
            </a:r>
            <a:r>
              <a:rPr lang="uk-UA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Коддом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на початку 1970-х </a:t>
            </a:r>
            <a:r>
              <a:rPr lang="uk-UA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р.р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В основу мови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SQL,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що використовується в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 Server, 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ліг різновид мови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T-SQL (Transact-SQL).</a:t>
            </a:r>
            <a:endParaRPr lang="uk-UA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cs typeface="Times New Roman" panose="02020603050405020304" pitchFamily="18" charset="0"/>
              </a:rPr>
              <a:t>На поточний момент використовується остання версія </a:t>
            </a:r>
            <a:r>
              <a:rPr lang="en-US" sz="1600" b="0" dirty="0">
                <a:latin typeface="+mj-lt"/>
                <a:cs typeface="Times New Roman" panose="02020603050405020304" pitchFamily="18" charset="0"/>
              </a:rPr>
              <a:t>SQL Server 2022,</a:t>
            </a:r>
            <a:r>
              <a:rPr lang="uk-UA" sz="1600" b="0" dirty="0">
                <a:latin typeface="+mj-lt"/>
                <a:cs typeface="Times New Roman" panose="02020603050405020304" pitchFamily="18" charset="0"/>
              </a:rPr>
              <a:t> випущена у листопаді 2022 р.</a:t>
            </a:r>
            <a:endParaRPr lang="uk-UA" sz="16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76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6110" y="404664"/>
            <a:ext cx="6707187" cy="418058"/>
          </a:xfrm>
        </p:spPr>
        <p:txBody>
          <a:bodyPr/>
          <a:lstStyle/>
          <a:p>
            <a:r>
              <a:rPr lang="uk-UA" sz="2800" dirty="0"/>
              <a:t>Апаратні вимоги </a:t>
            </a:r>
            <a:r>
              <a:rPr lang="en-US" sz="2800" dirty="0"/>
              <a:t>MS SQL Server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953320" y="1268760"/>
            <a:ext cx="6912768" cy="5022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Апаратні вимоги для встановлення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MS SQL Server 2022:</a:t>
            </a:r>
            <a:endParaRPr lang="uk-UA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Принаймні 1 ГБ пам’яті (512 МБ для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Express Edition). 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Однак рекомендується мати 4 ГБ (1 ГБ для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Express Edition). 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Для використання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DQS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потрібно 2 ГБ.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Принаймні процесор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x64 1,4 </a:t>
            </a:r>
            <a:r>
              <a:rPr lang="uk-UA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ГГц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(рекомендовано процесор 2 </a:t>
            </a:r>
            <a:r>
              <a:rPr lang="uk-UA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ГГц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або вище).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6 ГБ вільного місця на диску.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Монітор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Super VGA 800X600 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або краще.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Підключення до Інтернету.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Операційна система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Windows 10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та вище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або 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Windows Server 2016</a:t>
            </a:r>
            <a:r>
              <a:rPr lang="uk-UA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та вище</a:t>
            </a:r>
            <a:r>
              <a:rPr lang="en-US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857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Завантаження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Безкоштовну версію для розробника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MS 2022 SQL Server 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можна завантажити на офіційному сайті: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https://www.microsoft.com/en-us/sql-server/sql-server-downloads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Версія 2022 на цьому сайті є пробною версією на 180 днів.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546" y="2492896"/>
            <a:ext cx="6068901" cy="3816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9832" y="6267216"/>
            <a:ext cx="5139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b="0" dirty="0">
                <a:latin typeface="+mj-lt"/>
              </a:rPr>
              <a:t>Завантаження середовища з офіційного сайту</a:t>
            </a:r>
            <a:endParaRPr lang="en-US" sz="16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18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Завантаження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Доступно кілька варіантів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MS SQL Server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on Azure -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це версія в хмарі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Microsoft.</a:t>
            </a:r>
            <a:endParaRPr lang="uk-UA" sz="1400" b="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at the edge -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це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en-US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Інтернет речей). Він використовується для отримання даних у реальному часі з високою продуктивністю для рішень </a:t>
            </a:r>
            <a:r>
              <a:rPr lang="en-US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IoT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on-premises -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призначений для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Server,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встановленого на локальних машинах.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Крім того, є 2 безкоштовні версії.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Developer: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має всі функції версії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Enterprise.</a:t>
            </a: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Express: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безкоштовна версія з обмеженими можливостями.</a:t>
            </a:r>
            <a:endParaRPr lang="en-US" sz="1400" b="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SQL Server 2022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106" y="4221088"/>
            <a:ext cx="5279782" cy="214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11960" y="6361457"/>
            <a:ext cx="275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b="0" dirty="0">
                <a:latin typeface="+mj-lt"/>
              </a:rPr>
              <a:t>Варіанти </a:t>
            </a:r>
            <a:r>
              <a:rPr lang="en-US" sz="1600" b="0" dirty="0">
                <a:latin typeface="+mj-lt"/>
              </a:rPr>
              <a:t>MS SQL Server</a:t>
            </a:r>
          </a:p>
        </p:txBody>
      </p:sp>
    </p:spTree>
    <p:extLst>
      <p:ext uri="{BB962C8B-B14F-4D97-AF65-F5344CB8AC3E}">
        <p14:creationId xmlns:p14="http://schemas.microsoft.com/office/powerpoint/2010/main" val="239266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Завантаження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Є такі способи встановлення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Server: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Windows – 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інсталяції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на локальному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сервері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на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комп’ютері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Windows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або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віртуальній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машині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з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Microsoft Windows.</a:t>
            </a:r>
            <a:endParaRPr lang="uk-UA" sz="1400" b="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Linux - 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встановлення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на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Linux. </a:t>
            </a:r>
            <a:endParaRPr lang="uk-UA" sz="1400" b="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Docker -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спрощена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віртуальна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машина, яка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містить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необхідні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компоненти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для запуску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програми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без потреби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всієї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операційної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системи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Це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портативний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легкий контейнер для запуску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програм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400" b="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ontain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356992"/>
            <a:ext cx="6160740" cy="284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59832" y="6267216"/>
            <a:ext cx="4837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b="0" dirty="0">
                <a:latin typeface="+mj-lt"/>
              </a:rPr>
              <a:t>Способи встановлення </a:t>
            </a:r>
            <a:r>
              <a:rPr lang="en-US" sz="1600" b="0" dirty="0">
                <a:latin typeface="+mj-lt"/>
              </a:rPr>
              <a:t>MS SQL Server 2022</a:t>
            </a:r>
          </a:p>
        </p:txBody>
      </p:sp>
    </p:spTree>
    <p:extLst>
      <p:ext uri="{BB962C8B-B14F-4D97-AF65-F5344CB8AC3E}">
        <p14:creationId xmlns:p14="http://schemas.microsoft.com/office/powerpoint/2010/main" val="373323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Завантаження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1018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Встановимо випуск 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SQL Server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Developer on-premises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400" b="0" dirty="0">
                <a:ea typeface="Calibri" panose="020F0502020204030204" pitchFamily="34" charset="0"/>
                <a:cs typeface="Times New Roman" panose="02020603050405020304" pitchFamily="18" charset="0"/>
              </a:rPr>
              <a:t>для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локального користування. Завантажте програму встановлення, і після завантаження майстер встановлення матиме 3 варіанти:</a:t>
            </a:r>
          </a:p>
        </p:txBody>
      </p:sp>
      <p:pic>
        <p:nvPicPr>
          <p:cNvPr id="4098" name="Picture 2" descr="SQL Server installation typ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529" y="2228478"/>
            <a:ext cx="2943852" cy="233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979613" y="1999020"/>
            <a:ext cx="3456483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Basic – 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встановлення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 Server 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із параметрами за замовчуванням.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 - 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ця опція дозволяє вибрати компоненти для встановлення. Можна вибрати кілька інших параметрів, наприклад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SSIS, SSAS, DQS, MDS 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та інші функції.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Download Media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- цей параметр дозволяє завантажити інсталятор і запустити інсталяцію пізніше.</a:t>
            </a:r>
          </a:p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Оберіть варіант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168" y="4788485"/>
            <a:ext cx="24176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600" b="0" dirty="0">
                <a:latin typeface="+mj-lt"/>
              </a:rPr>
              <a:t>Вибір типу інсталяції</a:t>
            </a:r>
            <a:endParaRPr lang="en-US" sz="16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108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Інсталяція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Далі інсталятор запитає, де зберегти завантаження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Переконайтеся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у вас </a:t>
            </a:r>
            <a:r>
              <a:rPr lang="ru-RU" sz="1400" b="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достатньо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вільного дискового простору. Після вибору натисніть «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Install</a:t>
            </a:r>
            <a:r>
              <a:rPr lang="uk-UA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  <a:r>
              <a:rPr lang="en-US" sz="1400" b="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215742" y="5652618"/>
            <a:ext cx="4572000" cy="7812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Розташування носія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 Server Evaluation Edition</a:t>
            </a:r>
          </a:p>
        </p:txBody>
      </p:sp>
      <p:pic>
        <p:nvPicPr>
          <p:cNvPr id="5122" name="Picture 2" descr="SQL Server Evaluation Edition media lo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819" y="2365723"/>
            <a:ext cx="4151846" cy="326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70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Інсталяція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69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Після цього </a:t>
            </a:r>
            <a:r>
              <a:rPr lang="uk-UA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начнеться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процес завантаження та встановлення інсталяційного пакету. Це може зайняти деякий час.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8953" y="5805264"/>
            <a:ext cx="35885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Процес встановлення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MS SQL Server 2022</a:t>
            </a:r>
          </a:p>
        </p:txBody>
      </p:sp>
      <p:pic>
        <p:nvPicPr>
          <p:cNvPr id="6146" name="Picture 2" descr="Downloading SQL Server 2022 instal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50" y="1966486"/>
            <a:ext cx="4697710" cy="370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62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Інсталяція середовища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Після завершення процесу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натисніть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Customize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»,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щоб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налаштувати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екземпляр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та не закривайте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вікно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41744" y="6237312"/>
            <a:ext cx="3588506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 меню налаштування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988840"/>
            <a:ext cx="5216813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7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Вибір типу інсталяції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Натискайте 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Accept/Next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», доки не </a:t>
            </a:r>
            <a:r>
              <a:rPr lang="uk-UA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оберете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Installation Type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»,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виберіть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sz="1400" b="0" dirty="0">
                <a:latin typeface="+mj-lt"/>
              </a:rPr>
              <a:t>Perform a new installation of SQL Server 2022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».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Потім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натисніть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Next.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41744" y="6237312"/>
            <a:ext cx="3588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 типу інсталяції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72" y="2132856"/>
            <a:ext cx="4794268" cy="419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0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Вибір версії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Виберіть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Specify a free version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».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Потім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натисність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Accept/Next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41744" y="6237312"/>
            <a:ext cx="3588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 безкоштовної версії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628800"/>
            <a:ext cx="5328592" cy="4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5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Ознайомлення з ліцензійною угодою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Після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цього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буде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запропоновано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ознайомитись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з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ліцензійною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угодою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Прочитайте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її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та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натисніть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галочку у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вікні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accept the license terms and Privacy Statement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». 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2078" y="6267622"/>
            <a:ext cx="5502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Згода на обробку даних та ліцензійна угода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2124570"/>
            <a:ext cx="4680520" cy="406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8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Виключення компонентів </a:t>
            </a:r>
            <a:r>
              <a:rPr lang="en-US" sz="2800" dirty="0"/>
              <a:t>Azure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980728"/>
            <a:ext cx="69127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Далі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не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вибирайте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«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Azure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Extention</a:t>
            </a:r>
            <a:r>
              <a:rPr lang="en-US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for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SQL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Server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».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Якщо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цей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модуль</a:t>
            </a:r>
            <a:r>
              <a:rPr lang="uk-UA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знадобиться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майбутньому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його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можна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налаштувати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пізніше</a:t>
            </a:r>
            <a:r>
              <a:rPr lang="ru-RU" sz="14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4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2078" y="6204266"/>
            <a:ext cx="5502256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Виключення розширення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Azure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844823"/>
            <a:ext cx="4896544" cy="430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Вибір служби ядра БД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613" y="1239340"/>
            <a:ext cx="691276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uk-UA" sz="1400" b="0" dirty="0">
                <a:latin typeface="+mj-lt"/>
              </a:rPr>
              <a:t>Оберіть пункт</a:t>
            </a:r>
            <a:r>
              <a:rPr lang="en-US" sz="1400" b="0" dirty="0">
                <a:latin typeface="+mj-lt"/>
              </a:rPr>
              <a:t> </a:t>
            </a:r>
            <a:r>
              <a:rPr lang="ru-RU" sz="1400" b="0" dirty="0">
                <a:latin typeface="+mj-lt"/>
              </a:rPr>
              <a:t>«</a:t>
            </a:r>
            <a:r>
              <a:rPr lang="en-US" sz="1400" b="0" dirty="0">
                <a:latin typeface="+mj-lt"/>
              </a:rPr>
              <a:t>Database Engine Services</a:t>
            </a:r>
            <a:r>
              <a:rPr lang="ru-RU" sz="1400" b="0" dirty="0">
                <a:latin typeface="+mj-lt"/>
              </a:rPr>
              <a:t>»</a:t>
            </a:r>
            <a:r>
              <a:rPr lang="en-US" sz="1400" b="0" dirty="0">
                <a:latin typeface="+mj-lt"/>
              </a:rPr>
              <a:t>. </a:t>
            </a:r>
            <a:r>
              <a:rPr lang="uk-UA" sz="1400" b="0" dirty="0">
                <a:latin typeface="+mj-lt"/>
              </a:rPr>
              <a:t>Далі </a:t>
            </a:r>
            <a:r>
              <a:rPr lang="uk-UA" sz="1400" b="0" dirty="0" err="1">
                <a:latin typeface="+mj-lt"/>
              </a:rPr>
              <a:t>нажміть</a:t>
            </a:r>
            <a:r>
              <a:rPr lang="en-US" sz="1400" b="0" dirty="0">
                <a:latin typeface="+mj-lt"/>
              </a:rPr>
              <a:t> Next. 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2078" y="6204266"/>
            <a:ext cx="5502256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 служби ядра бази даних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337" y="1869913"/>
            <a:ext cx="4813320" cy="43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0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712" y="116632"/>
            <a:ext cx="6707187" cy="706090"/>
          </a:xfrm>
        </p:spPr>
        <p:txBody>
          <a:bodyPr/>
          <a:lstStyle/>
          <a:p>
            <a:r>
              <a:rPr lang="uk-UA" sz="2800" dirty="0"/>
              <a:t>Найменування нового </a:t>
            </a:r>
            <a:br>
              <a:rPr lang="uk-UA" sz="2800" dirty="0"/>
            </a:br>
            <a:r>
              <a:rPr lang="uk-UA" sz="2800" dirty="0"/>
              <a:t>екземпляра БД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712" y="836712"/>
            <a:ext cx="69127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>
                <a:latin typeface="+mj-lt"/>
              </a:rPr>
              <a:t>У </a:t>
            </a:r>
            <a:r>
              <a:rPr lang="ru-RU" sz="1400" b="0" dirty="0" err="1">
                <a:latin typeface="+mj-lt"/>
              </a:rPr>
              <a:t>розд</a:t>
            </a:r>
            <a:r>
              <a:rPr lang="uk-UA" sz="1400" b="0" dirty="0" err="1">
                <a:latin typeface="+mj-lt"/>
              </a:rPr>
              <a:t>ілі</a:t>
            </a:r>
            <a:r>
              <a:rPr lang="uk-UA" sz="1400" b="0" dirty="0">
                <a:latin typeface="+mj-lt"/>
              </a:rPr>
              <a:t> Конфігурація екземпляра п</a:t>
            </a:r>
            <a:r>
              <a:rPr lang="ru-RU" sz="1400" b="0" dirty="0" err="1">
                <a:latin typeface="+mj-lt"/>
              </a:rPr>
              <a:t>ривласніть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ім</a:t>
            </a:r>
            <a:r>
              <a:rPr lang="en-US" sz="1400" b="0" dirty="0">
                <a:latin typeface="+mj-lt"/>
              </a:rPr>
              <a:t>’</a:t>
            </a:r>
            <a:r>
              <a:rPr lang="ru-RU" sz="1400" b="0" dirty="0">
                <a:latin typeface="+mj-lt"/>
              </a:rPr>
              <a:t>я новому </a:t>
            </a:r>
            <a:r>
              <a:rPr lang="ru-RU" sz="1400" b="0" dirty="0" err="1">
                <a:latin typeface="+mj-lt"/>
              </a:rPr>
              <a:t>екземпляру</a:t>
            </a:r>
            <a:r>
              <a:rPr lang="ru-RU" sz="1400" b="0" dirty="0">
                <a:latin typeface="+mj-lt"/>
              </a:rPr>
              <a:t>, а </a:t>
            </a:r>
            <a:r>
              <a:rPr lang="ru-RU" sz="1400" b="0" dirty="0" err="1">
                <a:latin typeface="+mj-lt"/>
              </a:rPr>
              <a:t>потім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натисніть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Next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2078" y="6204266"/>
            <a:ext cx="5502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Найменування нового екземпляра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556792"/>
            <a:ext cx="531021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2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3728" y="116632"/>
            <a:ext cx="6707187" cy="706090"/>
          </a:xfrm>
        </p:spPr>
        <p:txBody>
          <a:bodyPr/>
          <a:lstStyle/>
          <a:p>
            <a:r>
              <a:rPr lang="uk-UA" sz="2800" dirty="0"/>
              <a:t>Налаштування </a:t>
            </a:r>
            <a:r>
              <a:rPr lang="uk-UA" sz="2800" dirty="0" err="1"/>
              <a:t>конфігурацїі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79712" y="908720"/>
            <a:ext cx="2664296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Конфігурація</a:t>
            </a:r>
            <a:r>
              <a:rPr lang="ru-RU" sz="1400" b="0" dirty="0">
                <a:latin typeface="+mj-lt"/>
              </a:rPr>
              <a:t> сервера </a:t>
            </a:r>
            <a:r>
              <a:rPr lang="ru-RU" sz="1400" b="0" dirty="0" err="1">
                <a:latin typeface="+mj-lt"/>
              </a:rPr>
              <a:t>дозволяє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створювати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або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додавати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облікові</a:t>
            </a:r>
            <a:r>
              <a:rPr lang="ru-RU" sz="1400" b="0" dirty="0">
                <a:latin typeface="+mj-lt"/>
              </a:rPr>
              <a:t> записи служб для </a:t>
            </a:r>
            <a:r>
              <a:rPr lang="ru-RU" sz="1400" b="0" dirty="0" err="1">
                <a:latin typeface="+mj-lt"/>
              </a:rPr>
              <a:t>різних</a:t>
            </a:r>
            <a:r>
              <a:rPr lang="ru-RU" sz="1400" b="0" dirty="0">
                <a:latin typeface="+mj-lt"/>
              </a:rPr>
              <a:t> служб, </a:t>
            </a:r>
            <a:r>
              <a:rPr lang="ru-RU" sz="1400" b="0" dirty="0" err="1">
                <a:latin typeface="+mj-lt"/>
              </a:rPr>
              <a:t>які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використовуються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SQL Server. </a:t>
            </a:r>
            <a:r>
              <a:rPr lang="ru-RU" sz="1400" b="0" dirty="0" err="1">
                <a:latin typeface="+mj-lt"/>
              </a:rPr>
              <a:t>Обер</a:t>
            </a:r>
            <a:r>
              <a:rPr lang="uk-UA" sz="1400" b="0" dirty="0" err="1">
                <a:latin typeface="+mj-lt"/>
              </a:rPr>
              <a:t>іть</a:t>
            </a:r>
            <a:r>
              <a:rPr lang="uk-UA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привілей</a:t>
            </a:r>
            <a:r>
              <a:rPr lang="ru-RU" sz="1400" b="0" dirty="0">
                <a:latin typeface="+mj-lt"/>
              </a:rPr>
              <a:t> «</a:t>
            </a:r>
            <a:r>
              <a:rPr lang="ru-RU" sz="1400" b="0" dirty="0" err="1">
                <a:latin typeface="+mj-lt"/>
              </a:rPr>
              <a:t>Виконувати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завдання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обслуговування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томів</a:t>
            </a:r>
            <a:r>
              <a:rPr lang="ru-RU" sz="1400" b="0" dirty="0">
                <a:latin typeface="+mj-lt"/>
              </a:rPr>
              <a:t>» </a:t>
            </a:r>
            <a:r>
              <a:rPr lang="ru-RU" sz="1400" b="0" dirty="0" err="1">
                <a:latin typeface="+mj-lt"/>
              </a:rPr>
              <a:t>службі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SQL Server Database Engine Service. </a:t>
            </a:r>
            <a:r>
              <a:rPr lang="ru-RU" sz="1400" b="0" dirty="0" err="1">
                <a:latin typeface="+mj-lt"/>
              </a:rPr>
              <a:t>Цей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привілей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покращує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продуктивність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операцій</a:t>
            </a:r>
            <a:r>
              <a:rPr lang="ru-RU" sz="1400" b="0" dirty="0">
                <a:latin typeface="+mj-lt"/>
              </a:rPr>
              <a:t> з базою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таких як </a:t>
            </a:r>
            <a:r>
              <a:rPr lang="ru-RU" sz="1400" b="0" dirty="0" err="1">
                <a:latin typeface="+mj-lt"/>
              </a:rPr>
              <a:t>створення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бази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відновлення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або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покращує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швидкість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зростання</a:t>
            </a:r>
            <a:r>
              <a:rPr lang="ru-RU" sz="1400" b="0" dirty="0">
                <a:latin typeface="+mj-lt"/>
              </a:rPr>
              <a:t> файлу.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932040" y="5085184"/>
            <a:ext cx="38460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Налаштування конфігурації сервера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739" y="1196752"/>
            <a:ext cx="4288292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0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274638"/>
            <a:ext cx="6707187" cy="706090"/>
          </a:xfrm>
        </p:spPr>
        <p:txBody>
          <a:bodyPr/>
          <a:lstStyle/>
          <a:p>
            <a:r>
              <a:rPr lang="uk-UA" sz="2800" dirty="0"/>
              <a:t>Налаштування </a:t>
            </a:r>
            <a:r>
              <a:rPr lang="uk-UA" sz="2800" dirty="0" err="1"/>
              <a:t>аутентифікації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>
                <a:latin typeface="+mj-lt"/>
              </a:rPr>
              <a:t>О</a:t>
            </a:r>
            <a:r>
              <a:rPr lang="uk-UA" sz="1400" b="0" dirty="0">
                <a:latin typeface="+mj-lt"/>
              </a:rPr>
              <a:t>беріть тип режиму </a:t>
            </a:r>
            <a:r>
              <a:rPr lang="uk-UA" sz="1400" b="0" dirty="0" err="1">
                <a:latin typeface="+mj-lt"/>
              </a:rPr>
              <a:t>аутентифікації</a:t>
            </a:r>
            <a:r>
              <a:rPr lang="uk-UA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SQL Server: </a:t>
            </a:r>
            <a:r>
              <a:rPr lang="uk-UA" sz="1400" b="0" dirty="0">
                <a:latin typeface="+mj-lt"/>
              </a:rPr>
              <a:t>Змішаний, та д</a:t>
            </a:r>
            <a:r>
              <a:rPr lang="ru-RU" sz="1400" b="0" dirty="0" err="1">
                <a:latin typeface="+mj-lt"/>
              </a:rPr>
              <a:t>одайте</a:t>
            </a:r>
            <a:r>
              <a:rPr lang="ru-RU" sz="1400" b="0" dirty="0">
                <a:latin typeface="+mj-lt"/>
              </a:rPr>
              <a:t> поточного </a:t>
            </a:r>
            <a:r>
              <a:rPr lang="ru-RU" sz="1400" b="0" dirty="0" err="1">
                <a:latin typeface="+mj-lt"/>
              </a:rPr>
              <a:t>користувача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операційної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системи</a:t>
            </a:r>
            <a:r>
              <a:rPr lang="ru-RU" sz="1400" b="0" dirty="0">
                <a:latin typeface="+mj-lt"/>
              </a:rPr>
              <a:t>, та </a:t>
            </a:r>
            <a:r>
              <a:rPr lang="ru-RU" sz="1400" b="0" dirty="0" err="1">
                <a:latin typeface="+mj-lt"/>
              </a:rPr>
              <a:t>натисність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Next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35696" y="6237312"/>
            <a:ext cx="66704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режиму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аутентифікації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та поточного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користувача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docs.johnsoncontrols.com/bas/api/khub/maps/Xbr3hdYhaZFZmrI7A2o84g/resources/rqtshWlupzoPMTmls2Isrg/content?Ft-Calling-App=ft%2Fturnkey-portal&amp;Ft-Calling-App-Version=4.3.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4896544" cy="431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7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712" y="116632"/>
            <a:ext cx="6707187" cy="706090"/>
          </a:xfrm>
        </p:spPr>
        <p:txBody>
          <a:bodyPr/>
          <a:lstStyle/>
          <a:p>
            <a:r>
              <a:rPr lang="uk-UA" sz="2800" dirty="0"/>
              <a:t>Вибір місця </a:t>
            </a:r>
            <a:br>
              <a:rPr lang="uk-UA" sz="2800" dirty="0"/>
            </a:br>
            <a:r>
              <a:rPr lang="uk-UA" sz="2800" dirty="0"/>
              <a:t>зберігання компонентів БД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Далі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можна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вказати</a:t>
            </a:r>
            <a:r>
              <a:rPr lang="ru-RU" sz="1400" b="0" dirty="0">
                <a:latin typeface="+mj-lt"/>
              </a:rPr>
              <a:t> шлях до </a:t>
            </a:r>
            <a:r>
              <a:rPr lang="ru-RU" sz="1400" b="0" dirty="0" err="1">
                <a:latin typeface="+mj-lt"/>
              </a:rPr>
              <a:t>системної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бази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налаштувавши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кореневий</a:t>
            </a:r>
            <a:r>
              <a:rPr lang="ru-RU" sz="1400" b="0" dirty="0">
                <a:latin typeface="+mj-lt"/>
              </a:rPr>
              <a:t> каталог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визначити</a:t>
            </a:r>
            <a:r>
              <a:rPr lang="ru-RU" sz="1400" b="0" dirty="0">
                <a:latin typeface="+mj-lt"/>
              </a:rPr>
              <a:t>, де </a:t>
            </a:r>
            <a:r>
              <a:rPr lang="ru-RU" sz="1400" b="0" dirty="0" err="1">
                <a:latin typeface="+mj-lt"/>
              </a:rPr>
              <a:t>зберігати</a:t>
            </a:r>
            <a:r>
              <a:rPr lang="ru-RU" sz="1400" b="0" dirty="0">
                <a:latin typeface="+mj-lt"/>
              </a:rPr>
              <a:t> каталог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 і журнал </a:t>
            </a:r>
            <a:r>
              <a:rPr lang="ru-RU" sz="1400" b="0" dirty="0" err="1">
                <a:latin typeface="+mj-lt"/>
              </a:rPr>
              <a:t>бази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вказати</a:t>
            </a:r>
            <a:r>
              <a:rPr lang="ru-RU" sz="1400" b="0" dirty="0">
                <a:latin typeface="+mj-lt"/>
              </a:rPr>
              <a:t> каталог резервного </a:t>
            </a:r>
            <a:r>
              <a:rPr lang="ru-RU" sz="1400" b="0" dirty="0" err="1">
                <a:latin typeface="+mj-lt"/>
              </a:rPr>
              <a:t>копіювання</a:t>
            </a:r>
            <a:r>
              <a:rPr lang="ru-RU" sz="1400" b="0" dirty="0">
                <a:latin typeface="+mj-lt"/>
              </a:rPr>
              <a:t>. Рекомендовано </a:t>
            </a:r>
            <a:r>
              <a:rPr lang="ru-RU" sz="1400" b="0" dirty="0" err="1">
                <a:latin typeface="+mj-lt"/>
              </a:rPr>
              <a:t>зберігати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бази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файли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журналів</a:t>
            </a:r>
            <a:r>
              <a:rPr lang="ru-RU" sz="1400" b="0" dirty="0">
                <a:latin typeface="+mj-lt"/>
              </a:rPr>
              <a:t> і </a:t>
            </a:r>
            <a:r>
              <a:rPr lang="ru-RU" sz="1400" b="0" dirty="0" err="1">
                <a:latin typeface="+mj-lt"/>
              </a:rPr>
              <a:t>резервні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копії</a:t>
            </a:r>
            <a:r>
              <a:rPr lang="ru-RU" sz="1400" b="0" dirty="0">
                <a:latin typeface="+mj-lt"/>
              </a:rPr>
              <a:t> на </a:t>
            </a:r>
            <a:r>
              <a:rPr lang="ru-RU" sz="1400" b="0" dirty="0" err="1">
                <a:latin typeface="+mj-lt"/>
              </a:rPr>
              <a:t>різних</a:t>
            </a:r>
            <a:r>
              <a:rPr lang="ru-RU" sz="1400" b="0" dirty="0">
                <a:latin typeface="+mj-lt"/>
              </a:rPr>
              <a:t> дисках для </a:t>
            </a:r>
            <a:r>
              <a:rPr lang="ru-RU" sz="1400" b="0" dirty="0" err="1">
                <a:latin typeface="+mj-lt"/>
              </a:rPr>
              <a:t>забезпечення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безпеки</a:t>
            </a:r>
            <a:r>
              <a:rPr lang="ru-RU" sz="1400" b="0" dirty="0">
                <a:latin typeface="+mj-lt"/>
              </a:rPr>
              <a:t> та </a:t>
            </a:r>
            <a:r>
              <a:rPr lang="ru-RU" sz="1400" b="0" dirty="0" err="1">
                <a:latin typeface="+mj-lt"/>
              </a:rPr>
              <a:t>продуктивності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Вибір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місця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зберігання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компонентів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ql server 2022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564904"/>
            <a:ext cx="4704457" cy="392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1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23928" y="0"/>
            <a:ext cx="3061066" cy="936104"/>
          </a:xfrm>
        </p:spPr>
        <p:txBody>
          <a:bodyPr/>
          <a:lstStyle/>
          <a:p>
            <a:r>
              <a:rPr lang="uk-UA" sz="2800" dirty="0"/>
              <a:t>Налаштування системної БД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1018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TempDB</a:t>
            </a:r>
            <a:r>
              <a:rPr lang="ru-RU" sz="1400" b="0" dirty="0">
                <a:latin typeface="+mj-lt"/>
              </a:rPr>
              <a:t> — </a:t>
            </a:r>
            <a:r>
              <a:rPr lang="ru-RU" sz="1400" b="0" dirty="0" err="1">
                <a:latin typeface="+mj-lt"/>
              </a:rPr>
              <a:t>важлива</a:t>
            </a:r>
            <a:r>
              <a:rPr lang="ru-RU" sz="1400" b="0" dirty="0">
                <a:latin typeface="+mj-lt"/>
              </a:rPr>
              <a:t> системна база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яка </a:t>
            </a:r>
            <a:r>
              <a:rPr lang="ru-RU" sz="1400" b="0" dirty="0" err="1">
                <a:latin typeface="+mj-lt"/>
              </a:rPr>
              <a:t>використовується</a:t>
            </a:r>
            <a:r>
              <a:rPr lang="ru-RU" sz="1400" b="0" dirty="0">
                <a:latin typeface="+mj-lt"/>
              </a:rPr>
              <a:t> для </a:t>
            </a:r>
            <a:r>
              <a:rPr lang="ru-RU" sz="1400" b="0" dirty="0" err="1">
                <a:latin typeface="+mj-lt"/>
              </a:rPr>
              <a:t>зберігання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тимчасових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. </a:t>
            </a:r>
            <a:r>
              <a:rPr lang="ru-RU" sz="1400" b="0" dirty="0" err="1">
                <a:latin typeface="+mj-lt"/>
              </a:rPr>
              <a:t>Зазначена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конфігурація</a:t>
            </a:r>
            <a:r>
              <a:rPr lang="ru-RU" sz="1400" b="0" dirty="0">
                <a:latin typeface="+mj-lt"/>
              </a:rPr>
              <a:t> та </a:t>
            </a:r>
            <a:r>
              <a:rPr lang="ru-RU" sz="1400" b="0" dirty="0" err="1">
                <a:latin typeface="+mj-lt"/>
              </a:rPr>
              <a:t>значення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можуть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покращити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продуктивність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1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системної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бази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даних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sql server 2022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88840"/>
            <a:ext cx="5112568" cy="426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08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1800" y="22109"/>
            <a:ext cx="5400600" cy="936104"/>
          </a:xfrm>
        </p:spPr>
        <p:txBody>
          <a:bodyPr/>
          <a:lstStyle/>
          <a:p>
            <a:r>
              <a:rPr lang="uk-UA" sz="2800" dirty="0"/>
              <a:t>Налаштування </a:t>
            </a:r>
            <a:r>
              <a:rPr lang="ru-RU" sz="2800" dirty="0" err="1"/>
              <a:t>MaxDOP</a:t>
            </a:r>
            <a:r>
              <a:rPr lang="ru-RU" sz="2800" dirty="0"/>
              <a:t> 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MaxDOP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це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інструмент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що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керує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паралелізмом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всередині</a:t>
            </a:r>
            <a:r>
              <a:rPr lang="ru-RU" sz="1400" b="0" dirty="0">
                <a:latin typeface="+mj-lt"/>
              </a:rPr>
              <a:t> ядра </a:t>
            </a:r>
            <a:r>
              <a:rPr lang="ru-RU" sz="1400" b="0" dirty="0" err="1">
                <a:latin typeface="+mj-lt"/>
              </a:rPr>
              <a:t>бази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та </a:t>
            </a:r>
            <a:r>
              <a:rPr lang="ru-RU" sz="1400" b="0" dirty="0" err="1">
                <a:latin typeface="+mj-lt"/>
              </a:rPr>
              <a:t>грає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важливу</a:t>
            </a:r>
            <a:r>
              <a:rPr lang="ru-RU" sz="1400" b="0" dirty="0">
                <a:latin typeface="+mj-lt"/>
              </a:rPr>
              <a:t> роль у </a:t>
            </a:r>
            <a:r>
              <a:rPr lang="ru-RU" sz="1400" b="0" dirty="0" err="1">
                <a:latin typeface="+mj-lt"/>
              </a:rPr>
              <a:t>забезпеченні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продуктивності</a:t>
            </a:r>
            <a:r>
              <a:rPr lang="ru-RU" sz="1400" b="0" dirty="0">
                <a:latin typeface="+mj-lt"/>
              </a:rPr>
              <a:t>. </a:t>
            </a:r>
            <a:r>
              <a:rPr lang="ru-RU" sz="1400" b="0" dirty="0" err="1">
                <a:latin typeface="+mj-lt"/>
              </a:rPr>
              <a:t>Залиште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його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значення</a:t>
            </a:r>
            <a:r>
              <a:rPr lang="ru-RU" sz="1400" b="0" dirty="0">
                <a:latin typeface="+mj-lt"/>
              </a:rPr>
              <a:t> за </a:t>
            </a:r>
            <a:r>
              <a:rPr lang="ru-RU" sz="1400" b="0" dirty="0" err="1">
                <a:latin typeface="+mj-lt"/>
              </a:rPr>
              <a:t>умовчанням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5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/>
              <a:t>MaxDOP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sql server 2022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988839"/>
            <a:ext cx="5328592" cy="444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60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1800" y="22109"/>
            <a:ext cx="5400600" cy="936104"/>
          </a:xfrm>
        </p:spPr>
        <p:txBody>
          <a:bodyPr/>
          <a:lstStyle/>
          <a:p>
            <a:r>
              <a:rPr lang="uk-UA" sz="2800" dirty="0"/>
              <a:t>Налаштування параметрів пам’яті</a:t>
            </a:r>
            <a:r>
              <a:rPr lang="ru-RU" sz="2800" dirty="0"/>
              <a:t> 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Параметри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пам’яті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дозволяють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вказати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максимальну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пам’ять</a:t>
            </a:r>
            <a:r>
              <a:rPr lang="ru-RU" sz="1400" b="0" dirty="0">
                <a:latin typeface="+mj-lt"/>
              </a:rPr>
              <a:t> сервера, яку </a:t>
            </a:r>
            <a:r>
              <a:rPr lang="ru-RU" sz="1400" b="0" dirty="0" err="1">
                <a:latin typeface="+mj-lt"/>
              </a:rPr>
              <a:t>використовує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SQL Server. 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5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пам’яті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sql server 2022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628800"/>
            <a:ext cx="5832648" cy="486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8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1800" y="22109"/>
            <a:ext cx="5400600" cy="936104"/>
          </a:xfrm>
        </p:spPr>
        <p:txBody>
          <a:bodyPr/>
          <a:lstStyle/>
          <a:p>
            <a:r>
              <a:rPr lang="uk-UA" sz="2800" dirty="0"/>
              <a:t>Налаштування файлового потоку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69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en-US" sz="1400" b="0" dirty="0">
                <a:latin typeface="+mj-lt"/>
              </a:rPr>
              <a:t>FILESTREAM </a:t>
            </a:r>
            <a:r>
              <a:rPr lang="ru-RU" sz="1400" b="0" dirty="0" err="1">
                <a:latin typeface="+mj-lt"/>
              </a:rPr>
              <a:t>використовується</a:t>
            </a:r>
            <a:r>
              <a:rPr lang="ru-RU" sz="1400" b="0" dirty="0">
                <a:latin typeface="+mj-lt"/>
              </a:rPr>
              <a:t> для </a:t>
            </a:r>
            <a:r>
              <a:rPr lang="ru-RU" sz="1400" b="0" dirty="0" err="1">
                <a:latin typeface="+mj-lt"/>
              </a:rPr>
              <a:t>зберігання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файлів</a:t>
            </a:r>
            <a:r>
              <a:rPr lang="ru-RU" sz="1400" b="0" dirty="0">
                <a:latin typeface="+mj-lt"/>
              </a:rPr>
              <a:t> поза базою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, таких як </a:t>
            </a:r>
            <a:r>
              <a:rPr lang="ru-RU" sz="1400" b="0" dirty="0" err="1">
                <a:latin typeface="+mj-lt"/>
              </a:rPr>
              <a:t>відео</a:t>
            </a:r>
            <a:r>
              <a:rPr lang="ru-RU" sz="1400" b="0" dirty="0">
                <a:latin typeface="+mj-lt"/>
              </a:rPr>
              <a:t>, </a:t>
            </a:r>
            <a:r>
              <a:rPr lang="en-US" sz="1400" b="0" dirty="0">
                <a:latin typeface="+mj-lt"/>
              </a:rPr>
              <a:t>PDF-</a:t>
            </a:r>
            <a:r>
              <a:rPr lang="ru-RU" sz="1400" b="0" dirty="0" err="1">
                <a:latin typeface="+mj-lt"/>
              </a:rPr>
              <a:t>файли</a:t>
            </a:r>
            <a:r>
              <a:rPr lang="ru-RU" sz="1400" b="0" dirty="0">
                <a:latin typeface="+mj-lt"/>
              </a:rPr>
              <a:t>, </a:t>
            </a:r>
            <a:r>
              <a:rPr lang="ru-RU" sz="1400" b="0" dirty="0" err="1">
                <a:latin typeface="+mj-lt"/>
              </a:rPr>
              <a:t>файли</a:t>
            </a:r>
            <a:r>
              <a:rPr lang="ru-RU" sz="1400" b="0" dirty="0">
                <a:latin typeface="+mj-lt"/>
              </a:rPr>
              <a:t> </a:t>
            </a:r>
            <a:r>
              <a:rPr lang="en-US" sz="1400" b="0" dirty="0">
                <a:latin typeface="+mj-lt"/>
              </a:rPr>
              <a:t>Word, Excel </a:t>
            </a:r>
            <a:r>
              <a:rPr lang="ru-RU" sz="1400" b="0" dirty="0">
                <a:latin typeface="+mj-lt"/>
              </a:rPr>
              <a:t>та </a:t>
            </a:r>
            <a:r>
              <a:rPr lang="ru-RU" sz="1400" b="0" dirty="0" err="1">
                <a:latin typeface="+mj-lt"/>
              </a:rPr>
              <a:t>інші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5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Налаштування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файлового потоку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sql server 2022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628800"/>
            <a:ext cx="5703034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6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771800" y="22109"/>
            <a:ext cx="5400600" cy="936104"/>
          </a:xfrm>
        </p:spPr>
        <p:txBody>
          <a:bodyPr/>
          <a:lstStyle/>
          <a:p>
            <a:r>
              <a:rPr lang="uk-UA" sz="2800" dirty="0"/>
              <a:t>Перевірка налаштувань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908720"/>
            <a:ext cx="69127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>
                <a:latin typeface="+mj-lt"/>
              </a:rPr>
              <a:t>Коли все </a:t>
            </a:r>
            <a:r>
              <a:rPr lang="ru-RU" sz="1400" b="0" dirty="0" err="1">
                <a:latin typeface="+mj-lt"/>
              </a:rPr>
              <a:t>налаштовано</a:t>
            </a:r>
            <a:r>
              <a:rPr lang="ru-RU" sz="1400" b="0" dirty="0">
                <a:latin typeface="+mj-lt"/>
              </a:rPr>
              <a:t>,</a:t>
            </a:r>
            <a:r>
              <a:rPr lang="en-US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сл</a:t>
            </a:r>
            <a:r>
              <a:rPr lang="uk-UA" sz="1400" b="0" dirty="0">
                <a:latin typeface="+mj-lt"/>
              </a:rPr>
              <a:t>ід ще раз перевірити </a:t>
            </a:r>
            <a:r>
              <a:rPr lang="ru-RU" sz="1400" b="0" dirty="0" err="1">
                <a:latin typeface="+mj-lt"/>
              </a:rPr>
              <a:t>конфігурацію</a:t>
            </a:r>
            <a:r>
              <a:rPr lang="ru-RU" sz="1400" b="0" dirty="0">
                <a:latin typeface="+mj-lt"/>
              </a:rPr>
              <a:t> та </a:t>
            </a:r>
            <a:r>
              <a:rPr lang="ru-RU" sz="1400" b="0" dirty="0" err="1">
                <a:latin typeface="+mj-lt"/>
              </a:rPr>
              <a:t>натиснути</a:t>
            </a:r>
            <a:r>
              <a:rPr lang="ru-RU" sz="1400" b="0" dirty="0">
                <a:latin typeface="+mj-lt"/>
              </a:rPr>
              <a:t> кнопку «</a:t>
            </a:r>
            <a:r>
              <a:rPr lang="en-US" sz="1400" b="0" dirty="0">
                <a:latin typeface="+mj-lt"/>
              </a:rPr>
              <a:t>Install</a:t>
            </a:r>
            <a:r>
              <a:rPr lang="ru-RU" sz="1400" b="0" dirty="0">
                <a:latin typeface="+mj-lt"/>
              </a:rPr>
              <a:t>». 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5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Остаточна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перев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і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рка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налаштувань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Ready to install SQL Ser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772816"/>
            <a:ext cx="5328592" cy="444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176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22109"/>
            <a:ext cx="5904656" cy="936104"/>
          </a:xfrm>
        </p:spPr>
        <p:txBody>
          <a:bodyPr/>
          <a:lstStyle/>
          <a:p>
            <a:r>
              <a:rPr lang="uk-UA" sz="2800" dirty="0"/>
              <a:t>Встановлення </a:t>
            </a:r>
            <a:r>
              <a:rPr lang="en-US" sz="2800" dirty="0"/>
              <a:t>MS Server 2022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907704" y="836712"/>
            <a:ext cx="69127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>
              <a:lnSpc>
                <a:spcPct val="150000"/>
              </a:lnSpc>
              <a:spcAft>
                <a:spcPts val="0"/>
              </a:spcAft>
            </a:pPr>
            <a:r>
              <a:rPr lang="ru-RU" sz="1400" b="0" dirty="0" err="1">
                <a:latin typeface="+mj-lt"/>
              </a:rPr>
              <a:t>Якщо</a:t>
            </a:r>
            <a:r>
              <a:rPr lang="ru-RU" sz="1400" b="0" dirty="0">
                <a:latin typeface="+mj-lt"/>
              </a:rPr>
              <a:t> все </a:t>
            </a:r>
            <a:r>
              <a:rPr lang="ru-RU" sz="1400" b="0" dirty="0" err="1">
                <a:latin typeface="+mj-lt"/>
              </a:rPr>
              <a:t>пройде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успішно</a:t>
            </a:r>
            <a:r>
              <a:rPr lang="ru-RU" sz="1400" b="0" dirty="0">
                <a:latin typeface="+mj-lt"/>
              </a:rPr>
              <a:t>, MS SQL </a:t>
            </a:r>
            <a:r>
              <a:rPr lang="ru-RU" sz="1400" b="0" dirty="0" err="1">
                <a:latin typeface="+mj-lt"/>
              </a:rPr>
              <a:t>Server</a:t>
            </a:r>
            <a:r>
              <a:rPr lang="ru-RU" sz="1400" b="0" dirty="0">
                <a:latin typeface="+mj-lt"/>
              </a:rPr>
              <a:t> 2022 буде </a:t>
            </a:r>
            <a:r>
              <a:rPr lang="ru-RU" sz="1400" b="0" dirty="0" err="1">
                <a:latin typeface="+mj-lt"/>
              </a:rPr>
              <a:t>встановлено</a:t>
            </a:r>
            <a:r>
              <a:rPr lang="ru-RU" sz="1400" b="0" dirty="0">
                <a:latin typeface="+mj-lt"/>
              </a:rPr>
              <a:t>, і система </a:t>
            </a:r>
            <a:r>
              <a:rPr lang="ru-RU" sz="1400" b="0" dirty="0" err="1">
                <a:latin typeface="+mj-lt"/>
              </a:rPr>
              <a:t>керування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реляційною</a:t>
            </a:r>
            <a:r>
              <a:rPr lang="ru-RU" sz="1400" b="0" dirty="0">
                <a:latin typeface="+mj-lt"/>
              </a:rPr>
              <a:t> базою </a:t>
            </a:r>
            <a:r>
              <a:rPr lang="ru-RU" sz="1400" b="0" dirty="0" err="1">
                <a:latin typeface="+mj-lt"/>
              </a:rPr>
              <a:t>даних</a:t>
            </a:r>
            <a:r>
              <a:rPr lang="ru-RU" sz="1400" b="0" dirty="0">
                <a:latin typeface="+mj-lt"/>
              </a:rPr>
              <a:t> готова до </a:t>
            </a:r>
            <a:r>
              <a:rPr lang="ru-RU" sz="1400" b="0" dirty="0" err="1">
                <a:latin typeface="+mj-lt"/>
              </a:rPr>
              <a:t>використання</a:t>
            </a:r>
            <a:r>
              <a:rPr lang="ru-RU" sz="1400" b="0" dirty="0">
                <a:latin typeface="+mj-lt"/>
              </a:rPr>
              <a:t>. Час </a:t>
            </a:r>
            <a:r>
              <a:rPr lang="ru-RU" sz="1400" b="0" dirty="0" err="1">
                <a:latin typeface="+mj-lt"/>
              </a:rPr>
              <a:t>встановлення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займає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від</a:t>
            </a:r>
            <a:r>
              <a:rPr lang="ru-RU" sz="1400" b="0" dirty="0">
                <a:latin typeface="+mj-lt"/>
              </a:rPr>
              <a:t> 15 до 30 </a:t>
            </a:r>
            <a:r>
              <a:rPr lang="ru-RU" sz="1400" b="0" dirty="0" err="1">
                <a:latin typeface="+mj-lt"/>
              </a:rPr>
              <a:t>хвилин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залежно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від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обраних</a:t>
            </a:r>
            <a:r>
              <a:rPr lang="ru-RU" sz="1400" b="0" dirty="0">
                <a:latin typeface="+mj-lt"/>
              </a:rPr>
              <a:t> </a:t>
            </a:r>
            <a:r>
              <a:rPr lang="ru-RU" sz="1400" b="0" dirty="0" err="1">
                <a:latin typeface="+mj-lt"/>
              </a:rPr>
              <a:t>компонентів</a:t>
            </a:r>
            <a:r>
              <a:rPr lang="ru-RU" sz="1400" b="0" dirty="0">
                <a:latin typeface="+mj-lt"/>
              </a:rPr>
              <a:t>.</a:t>
            </a:r>
            <a:endParaRPr lang="en-US" sz="11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6329460"/>
            <a:ext cx="6670442" cy="415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ctr">
              <a:lnSpc>
                <a:spcPct val="150000"/>
              </a:lnSpc>
              <a:spcAft>
                <a:spcPts val="0"/>
              </a:spcAft>
            </a:pP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Вдалий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процес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встановлення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omplete SQL Server instal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204864"/>
            <a:ext cx="5040560" cy="420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89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22109"/>
            <a:ext cx="5904656" cy="936104"/>
          </a:xfrm>
        </p:spPr>
        <p:txBody>
          <a:bodyPr/>
          <a:lstStyle/>
          <a:p>
            <a:r>
              <a:rPr lang="ru-RU" sz="2800" dirty="0" err="1"/>
              <a:t>Контрольн</a:t>
            </a:r>
            <a:r>
              <a:rPr lang="uk-UA" sz="2800" dirty="0"/>
              <a:t>і завдання</a:t>
            </a:r>
            <a:endParaRPr lang="en-US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339752" y="1196752"/>
            <a:ext cx="64087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600" b="0" dirty="0">
                <a:latin typeface="+mj-lt"/>
              </a:rPr>
              <a:t>1. </a:t>
            </a:r>
            <a:r>
              <a:rPr lang="ru-RU" sz="1600" b="0" dirty="0">
                <a:latin typeface="+mj-lt"/>
              </a:rPr>
              <a:t>Яка </a:t>
            </a:r>
            <a:r>
              <a:rPr lang="ru-RU" sz="1600" b="0" dirty="0" err="1">
                <a:latin typeface="+mj-lt"/>
              </a:rPr>
              <a:t>мова</a:t>
            </a:r>
            <a:r>
              <a:rPr lang="ru-RU" sz="1600" b="0" dirty="0">
                <a:latin typeface="+mj-lt"/>
              </a:rPr>
              <a:t> </a:t>
            </a:r>
            <a:r>
              <a:rPr lang="ru-RU" sz="1600" b="0" dirty="0" err="1">
                <a:latin typeface="+mj-lt"/>
              </a:rPr>
              <a:t>програмування</a:t>
            </a:r>
            <a:r>
              <a:rPr lang="ru-RU" sz="1600" b="0" dirty="0">
                <a:latin typeface="+mj-lt"/>
              </a:rPr>
              <a:t> </a:t>
            </a:r>
            <a:r>
              <a:rPr lang="ru-RU" sz="1600" b="0" dirty="0" err="1">
                <a:latin typeface="+mj-lt"/>
              </a:rPr>
              <a:t>використовується</a:t>
            </a:r>
            <a:r>
              <a:rPr lang="ru-RU" sz="1600" b="0" dirty="0">
                <a:latin typeface="+mj-lt"/>
              </a:rPr>
              <a:t> в </a:t>
            </a:r>
            <a:r>
              <a:rPr lang="en-US" sz="1600" b="0" dirty="0">
                <a:latin typeface="+mj-lt"/>
              </a:rPr>
              <a:t>MS SQL Server?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600" b="0" dirty="0">
                <a:latin typeface="+mj-lt"/>
              </a:rPr>
              <a:t>2. </a:t>
            </a:r>
            <a:r>
              <a:rPr lang="ru-RU" sz="1600" b="0" dirty="0" err="1">
                <a:latin typeface="+mj-lt"/>
              </a:rPr>
              <a:t>Що</a:t>
            </a:r>
            <a:r>
              <a:rPr lang="ru-RU" sz="1600" b="0" dirty="0">
                <a:latin typeface="+mj-lt"/>
              </a:rPr>
              <a:t> </a:t>
            </a:r>
            <a:r>
              <a:rPr lang="ru-RU" sz="1600" b="0" dirty="0" err="1">
                <a:latin typeface="+mj-lt"/>
              </a:rPr>
              <a:t>таке</a:t>
            </a:r>
            <a:r>
              <a:rPr lang="ru-RU" sz="1600" b="0" dirty="0">
                <a:latin typeface="+mj-lt"/>
              </a:rPr>
              <a:t> </a:t>
            </a: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SQL Server on-premises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1600" b="0" dirty="0">
                <a:latin typeface="+mj-lt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чого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потр</a:t>
            </a:r>
            <a:r>
              <a:rPr lang="uk-UA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і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бен </a:t>
            </a:r>
            <a:r>
              <a:rPr lang="ru-RU" sz="1600" b="0" dirty="0" err="1">
                <a:latin typeface="+mj-lt"/>
              </a:rPr>
              <a:t>MaxDOP</a:t>
            </a:r>
            <a:r>
              <a:rPr lang="ru-RU" sz="1600" b="0" dirty="0">
                <a:latin typeface="+mj-lt"/>
              </a:rPr>
              <a:t>?</a:t>
            </a:r>
            <a:endParaRPr lang="en-US" sz="1600" b="0" dirty="0">
              <a:latin typeface="+mj-lt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Для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чого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використовується</a:t>
            </a:r>
            <a:r>
              <a:rPr lang="ru-RU" sz="1600" b="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latin typeface="+mj-lt"/>
              </a:rPr>
              <a:t>FILESTREAM?</a:t>
            </a:r>
            <a:endParaRPr lang="en-US" sz="1600" b="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3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D02B23ADF6BE6478DA855DCC208A924" ma:contentTypeVersion="1" ma:contentTypeDescription="Створення нового документа." ma:contentTypeScope="" ma:versionID="dcb4e96b859fc5dce5379788deedaf7c">
  <xsd:schema xmlns:xsd="http://www.w3.org/2001/XMLSchema" xmlns:xs="http://www.w3.org/2001/XMLSchema" xmlns:p="http://schemas.microsoft.com/office/2006/metadata/properties" xmlns:ns2="57817da6-8891-411e-ad38-ca60d9886046" targetNamespace="http://schemas.microsoft.com/office/2006/metadata/properties" ma:root="true" ma:fieldsID="ab86aafec6e7f9f02a13be31a6a6764f" ns2:_="">
    <xsd:import namespace="57817da6-8891-411e-ad38-ca60d9886046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817da6-8891-411e-ad38-ca60d988604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7817da6-8891-411e-ad38-ca60d9886046" xsi:nil="true"/>
  </documentManagement>
</p:properties>
</file>

<file path=customXml/itemProps1.xml><?xml version="1.0" encoding="utf-8"?>
<ds:datastoreItem xmlns:ds="http://schemas.openxmlformats.org/officeDocument/2006/customXml" ds:itemID="{25D3001C-21BC-4C94-9A41-28C751121922}"/>
</file>

<file path=customXml/itemProps2.xml><?xml version="1.0" encoding="utf-8"?>
<ds:datastoreItem xmlns:ds="http://schemas.openxmlformats.org/officeDocument/2006/customXml" ds:itemID="{9B4920F1-D45A-4B93-8533-B0F4752B3E3D}"/>
</file>

<file path=customXml/itemProps3.xml><?xml version="1.0" encoding="utf-8"?>
<ds:datastoreItem xmlns:ds="http://schemas.openxmlformats.org/officeDocument/2006/customXml" ds:itemID="{B244A605-A026-40C2-B906-DEBAAA1EB0E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</TotalTime>
  <Words>1192</Words>
  <Application>Microsoft Office PowerPoint</Application>
  <PresentationFormat>Экран (4:3)</PresentationFormat>
  <Paragraphs>103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 New Roman</vt:lpstr>
      <vt:lpstr>Verdana</vt:lpstr>
      <vt:lpstr>template</vt:lpstr>
      <vt:lpstr>Custom Design</vt:lpstr>
      <vt:lpstr>Інсталяція середовища MS SQL Server</vt:lpstr>
      <vt:lpstr>Мета роботи</vt:lpstr>
      <vt:lpstr>Бази даних SQL</vt:lpstr>
      <vt:lpstr>Microsoft SQL Server</vt:lpstr>
      <vt:lpstr>Апаратні вимоги MS SQL Server</vt:lpstr>
      <vt:lpstr>Завантаження середовища</vt:lpstr>
      <vt:lpstr>Завантаження середовища</vt:lpstr>
      <vt:lpstr>Завантаження середовища</vt:lpstr>
      <vt:lpstr>Завантаження середовища</vt:lpstr>
      <vt:lpstr>Інсталяція середовища</vt:lpstr>
      <vt:lpstr>Інсталяція середовища</vt:lpstr>
      <vt:lpstr>Інсталяція середовища</vt:lpstr>
      <vt:lpstr>Вибір типу інсталяції</vt:lpstr>
      <vt:lpstr>Вибір версії</vt:lpstr>
      <vt:lpstr>Ознайомлення з ліцензійною угодою</vt:lpstr>
      <vt:lpstr>Виключення компонентів Azure</vt:lpstr>
      <vt:lpstr>Вибір служби ядра БД</vt:lpstr>
      <vt:lpstr>Найменування нового  екземпляра БД</vt:lpstr>
      <vt:lpstr>Налаштування конфігурацїі</vt:lpstr>
      <vt:lpstr>Налаштування аутентифікації</vt:lpstr>
      <vt:lpstr>Вибір місця  зберігання компонентів БД</vt:lpstr>
      <vt:lpstr>Налаштування системної БД</vt:lpstr>
      <vt:lpstr>Налаштування MaxDOP </vt:lpstr>
      <vt:lpstr>Налаштування параметрів пам’яті </vt:lpstr>
      <vt:lpstr>Налаштування файлового потоку</vt:lpstr>
      <vt:lpstr>Перевірка налаштувань</vt:lpstr>
      <vt:lpstr>Встановлення MS Server 2022</vt:lpstr>
      <vt:lpstr>Контрольні завдання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I</cp:lastModifiedBy>
  <cp:revision>174</cp:revision>
  <dcterms:created xsi:type="dcterms:W3CDTF">2006-06-29T12:15:01Z</dcterms:created>
  <dcterms:modified xsi:type="dcterms:W3CDTF">2025-09-03T15:27:41Z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0x0101004D02B23ADF6BE6478DA855DCC208A924</vt:lpwstr>
  </property>
</Properties>
</file>